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4F4F5"/>
                </a:solidFill>
                <a:latin typeface="Calibri"/>
              </a:rPr>
              <a:t>SmartPark: Real-Time Parking Spot Object Detection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A1A1AA"/>
                </a:solidFill>
                <a:latin typeface="Calibri"/>
              </a:rPr>
              <a:t>AASD 4014 — Deep Learning II — Final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8AFF"/>
                </a:solidFill>
                <a:latin typeface="Calibri"/>
              </a:rPr>
              <a:t>Object Detection Track  ·  July 2026  ·  Group [FILL IN]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6B8AFF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1A1AA"/>
                </a:solidFill>
                <a:latin typeface="Calibri"/>
              </a:rPr>
              <a:t>Drivers waste time and money searching for parking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F4F4F5"/>
                </a:solidFill>
              </a:defRPr>
            </a:pPr>
            <a:r>
              <a:t>•  Camera-based occupancy detection can surface spot-level availability before drivers arrive.</a:t>
            </a:r>
          </a:p>
          <a:p>
            <a:pPr>
              <a:spcAft>
                <a:spcPts val="800"/>
              </a:spcAft>
              <a:defRPr sz="1900">
                <a:solidFill>
                  <a:srgbClr val="F4F4F5"/>
                </a:solidFill>
              </a:defRPr>
            </a:pPr>
            <a:r>
              <a:t>•  Prior work (PKLot / CNRPark-EXT) classifies pre-cropped, pre-calibrated spot images — it assumes spot locations are already known.</a:t>
            </a:r>
          </a:p>
          <a:p>
            <a:pPr>
              <a:spcAft>
                <a:spcPts val="800"/>
              </a:spcAft>
              <a:defRPr sz="1900">
                <a:solidFill>
                  <a:srgbClr val="F4F4F5"/>
                </a:solidFill>
              </a:defRPr>
            </a:pPr>
            <a:r>
              <a:t>•  This project targets the assignment's Object Detection requirement directly: find AND classify spots (empty_spot / occupied_spot) in a full, uncalibrated photo — no manual calibration step.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6B8AFF"/>
                </a:solidFill>
                <a:latin typeface="Calibri"/>
              </a:rPr>
              <a:t>Plan of Attack &amp; Agile 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1A1AA"/>
                </a:solidFill>
                <a:latin typeface="Calibri"/>
              </a:rPr>
              <a:t>4 real development stages, reconstructed from project file history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737360"/>
          <a:ext cx="110642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75488">
                <a:tc>
                  <a:txBody>
                    <a:bodyPr/>
                    <a:lstStyle/>
                    <a:p>
                      <a:pPr>
                        <a:defRPr b="1" sz="1300"/>
                      </a:pPr>
                      <a:r>
                        <a:t>Sprint</a:t>
                      </a:r>
                    </a:p>
                  </a:txBody>
                  <a:tcPr>
                    <a:solidFill>
                      <a:srgbClr val="3338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/>
                      </a:pPr>
                      <a:r>
                        <a:t>Goal</a:t>
                      </a:r>
                    </a:p>
                  </a:txBody>
                  <a:tcPr>
                    <a:solidFill>
                      <a:srgbClr val="3338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/>
                      </a:pPr>
                      <a:r>
                        <a:t>Key deliverables</a:t>
                      </a:r>
                    </a:p>
                  </a:txBody>
                  <a:tcPr>
                    <a:solidFill>
                      <a:srgbClr val="33384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 (Jul 17)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Pipeline scaffolding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Synthetic data, CNN classifier, geometry check, first demo UI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2 (Jul 18)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Real-data integration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PKLot conversion, classifier retrained on real data (97.04%)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3 (Jul 19)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Reporting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Initial report/slides, architecture diagram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4 (Jul 20)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Env fixes + OD pivot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Rebuilt as a real 2-class object detector after rubric audit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burnd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4206240"/>
            <a:ext cx="3566160" cy="23774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6B8AFF"/>
                </a:solidFill>
                <a:latin typeface="Calibri"/>
              </a:rPr>
              <a:t>The Dataset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1A1AA"/>
                </a:solidFill>
                <a:latin typeface="Calibri"/>
              </a:rPr>
              <a:t>Full-scene detection annotations, two object classes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4F4F5"/>
                </a:solidFill>
              </a:defRPr>
            </a:pPr>
            <a:r>
              <a:t>•  300 synthetic full-lot images, randomized grid layout (rows/cols/spot size/margin + per-spot jitter)</a:t>
            </a:r>
          </a:p>
          <a:p>
            <a:pPr>
              <a:spcAft>
                <a:spcPts val="800"/>
              </a:spcAft>
              <a:defRPr sz="1700">
                <a:solidFill>
                  <a:srgbClr val="F4F4F5"/>
                </a:solidFill>
              </a:defRPr>
            </a:pPr>
            <a:r>
              <a:t>•  4,422 labeled spot instances: 2,027 empty_spot / 2,395 occupied_spot</a:t>
            </a:r>
          </a:p>
          <a:p>
            <a:pPr>
              <a:spcAft>
                <a:spcPts val="800"/>
              </a:spcAft>
              <a:defRPr sz="1700">
                <a:solidFill>
                  <a:srgbClr val="F4F4F5"/>
                </a:solidFill>
              </a:defRPr>
            </a:pPr>
            <a:r>
              <a:t>•  occupied_spot boxes track the actual car footprint (shifts when misparked) — real localization signal</a:t>
            </a:r>
          </a:p>
          <a:p>
            <a:pPr>
              <a:spcAft>
                <a:spcPts val="800"/>
              </a:spcAft>
              <a:defRPr sz="1700">
                <a:solidFill>
                  <a:srgbClr val="F4F4F5"/>
                </a:solidFill>
              </a:defRPr>
            </a:pPr>
            <a:r>
              <a:t>•  255 train / 45 val images (85/15 split)</a:t>
            </a:r>
          </a:p>
          <a:p>
            <a:pPr>
              <a:spcAft>
                <a:spcPts val="800"/>
              </a:spcAft>
              <a:defRPr sz="1700">
                <a:solidFill>
                  <a:srgbClr val="F4F4F5"/>
                </a:solidFill>
              </a:defRPr>
            </a:pPr>
            <a:r>
              <a:t>•  Both classes clear the 200-images-per-class minimum comfortably</a:t>
            </a:r>
          </a:p>
        </p:txBody>
      </p:sp>
      <p:pic>
        <p:nvPicPr>
          <p:cNvPr id="6" name="Picture 5" descr="sample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2339" y="1737360"/>
            <a:ext cx="4240442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6B8AFF"/>
                </a:solidFill>
                <a:latin typeface="Calibri"/>
              </a:rPr>
              <a:t>Model: Single-Shot Detector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1A1AA"/>
                </a:solidFill>
                <a:latin typeface="Calibri"/>
              </a:rPr>
              <a:t>Trained from scratch — YOLOv1-style, one box per grid cell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737360"/>
          <a:ext cx="566928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2834640"/>
              </a:tblGrid>
              <a:tr h="491490">
                <a:tc>
                  <a:txBody>
                    <a:bodyPr/>
                    <a:lstStyle/>
                    <a:p>
                      <a:pPr>
                        <a:defRPr b="1" sz="1300"/>
                      </a:pPr>
                      <a:r>
                        <a:t>Layer</a:t>
                      </a:r>
                    </a:p>
                  </a:txBody>
                  <a:tcPr>
                    <a:solidFill>
                      <a:srgbClr val="3338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/>
                      </a:pPr>
                      <a:r>
                        <a:t>Output</a:t>
                      </a:r>
                    </a:p>
                  </a:txBody>
                  <a:tcPr>
                    <a:solidFill>
                      <a:srgbClr val="333842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Input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256×256×3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Conv2D(16)+Pool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128×128×16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Conv2D(32)+Pool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64×64×32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Conv2D(64)+Pool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32×32×64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Conv2D(128)+Pool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16×16×128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Conv2D(128)×2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16×16×128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Head (1×1 conv)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16×16×7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92240" y="1737360"/>
            <a:ext cx="51206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F4F4F5"/>
                </a:solidFill>
              </a:defRPr>
            </a:pPr>
            <a:r>
              <a:t>•  393,511 parameters</a:t>
            </a:r>
          </a:p>
          <a:p>
            <a:pPr>
              <a:spcAft>
                <a:spcPts val="800"/>
              </a:spcAft>
              <a:defRPr sz="1600">
                <a:solidFill>
                  <a:srgbClr val="F4F4F5"/>
                </a:solidFill>
              </a:defRPr>
            </a:pPr>
            <a:r>
              <a:t>•  Per cell: objectness, box (tx,ty,tw,th), 2-class softmax</a:t>
            </a:r>
          </a:p>
          <a:p>
            <a:pPr>
              <a:spcAft>
                <a:spcPts val="800"/>
              </a:spcAft>
              <a:defRPr sz="1600">
                <a:solidFill>
                  <a:srgbClr val="F4F4F5"/>
                </a:solidFill>
              </a:defRPr>
            </a:pPr>
            <a:r>
              <a:t>•  Loss: YOLOv1-style — coordinate (×5), objectness, no-object (×0.5), classification</a:t>
            </a:r>
          </a:p>
          <a:p>
            <a:pPr>
              <a:spcAft>
                <a:spcPts val="800"/>
              </a:spcAft>
              <a:defRPr sz="1600">
                <a:solidFill>
                  <a:srgbClr val="F4F4F5"/>
                </a:solidFill>
              </a:defRPr>
            </a:pPr>
            <a:r>
              <a:t>•  Post-processing: per-class NMS (cv2.dnn.NMSBoxes)</a:t>
            </a:r>
          </a:p>
          <a:p>
            <a:pPr>
              <a:spcAft>
                <a:spcPts val="800"/>
              </a:spcAft>
              <a:defRPr sz="1600">
                <a:solidFill>
                  <a:srgbClr val="F4F4F5"/>
                </a:solidFill>
              </a:defRPr>
            </a:pPr>
            <a:r>
              <a:t>•  Secondary pipeline: CNN classifier (1.14M params) + IoU geometry check for calibrated cameras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6B8AFF"/>
                </a:solidFill>
                <a:latin typeface="Calibri"/>
              </a:rPr>
              <a:t>Training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1A1AA"/>
                </a:solidFill>
                <a:latin typeface="Calibri"/>
              </a:rPr>
              <a:t>40 epochs, Adam + ReduceLROnPlateau, early stopping patience 6 (not triggered)</a:t>
            </a:r>
          </a:p>
        </p:txBody>
      </p:sp>
      <p:pic>
        <p:nvPicPr>
          <p:cNvPr id="5" name="Picture 4" descr="trainin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600" y="1645920"/>
            <a:ext cx="713232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6B8AFF"/>
                </a:solidFill>
                <a:latin typeface="Calibri"/>
              </a:rPr>
              <a:t>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1A1AA"/>
                </a:solidFill>
                <a:latin typeface="Calibri"/>
              </a:rPr>
              <a:t>Held-out validation: 45 images, 721 spot instances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737360"/>
          <a:ext cx="64008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/>
                <a:gridCol w="1066800"/>
                <a:gridCol w="1066800"/>
                <a:gridCol w="1066800"/>
                <a:gridCol w="1066800"/>
                <a:gridCol w="1066800"/>
              </a:tblGrid>
              <a:tr h="457200">
                <a:tc>
                  <a:txBody>
                    <a:bodyPr/>
                    <a:lstStyle/>
                    <a:p>
                      <a:pPr>
                        <a:defRPr b="1" sz="1300"/>
                      </a:pPr>
                      <a:r>
                        <a:t>Class</a:t>
                      </a:r>
                    </a:p>
                  </a:txBody>
                  <a:tcPr>
                    <a:solidFill>
                      <a:srgbClr val="3338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/>
                      </a:pPr>
                      <a:r>
                        <a:t>GT</a:t>
                      </a:r>
                    </a:p>
                  </a:txBody>
                  <a:tcPr>
                    <a:solidFill>
                      <a:srgbClr val="3338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/>
                      </a:pPr>
                      <a:r>
                        <a:t>AP@0.5</a:t>
                      </a:r>
                    </a:p>
                  </a:txBody>
                  <a:tcPr>
                    <a:solidFill>
                      <a:srgbClr val="3338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/>
                      </a:pPr>
                      <a:r>
                        <a:t>Precision</a:t>
                      </a:r>
                    </a:p>
                  </a:txBody>
                  <a:tcPr>
                    <a:solidFill>
                      <a:srgbClr val="3338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/>
                      </a:pPr>
                      <a:r>
                        <a:t>Recall</a:t>
                      </a:r>
                    </a:p>
                  </a:txBody>
                  <a:tcPr>
                    <a:solidFill>
                      <a:srgbClr val="3338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/>
                      </a:pPr>
                      <a:r>
                        <a:t>F1</a:t>
                      </a:r>
                    </a:p>
                  </a:txBody>
                  <a:tcPr>
                    <a:solidFill>
                      <a:srgbClr val="33384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empty_spot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337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98.73%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95.5%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94.1%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94.8%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occupied_spot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384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98.68%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99.7%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96.1%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97.9%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mAP@0.5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98.71%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ap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2093976"/>
            <a:ext cx="4480560" cy="358444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6B8AFF"/>
                </a:solidFill>
                <a:latin typeface="Calibri"/>
              </a:rPr>
              <a:t>Where the Errors 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1A1AA"/>
                </a:solidFill>
                <a:latin typeface="Calibri"/>
              </a:rPr>
              <a:t>Localization misses, not class confusion</a:t>
            </a:r>
          </a:p>
        </p:txBody>
      </p:sp>
      <p:pic>
        <p:nvPicPr>
          <p:cNvPr id="5" name="Picture 4" descr="pr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0"/>
            <a:ext cx="5486400" cy="4572000"/>
          </a:xfrm>
          <a:prstGeom prst="rect">
            <a:avLst/>
          </a:prstGeom>
        </p:spPr>
      </p:pic>
      <p:pic>
        <p:nvPicPr>
          <p:cNvPr id="6" name="Picture 5" descr="confusion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9370" y="1645920"/>
            <a:ext cx="51435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6B8AFF"/>
                </a:solidFill>
                <a:latin typeface="Calibri"/>
              </a:rPr>
              <a:t>Qualitative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1A1AA"/>
                </a:solidFill>
                <a:latin typeface="Calibri"/>
              </a:rPr>
              <a:t>A clean match, and an honest failure case</a:t>
            </a:r>
          </a:p>
        </p:txBody>
      </p:sp>
      <p:pic>
        <p:nvPicPr>
          <p:cNvPr id="5" name="Picture 4" descr="sample_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91333"/>
            <a:ext cx="5486400" cy="3698293"/>
          </a:xfrm>
          <a:prstGeom prst="rect">
            <a:avLst/>
          </a:prstGeom>
        </p:spPr>
      </p:pic>
      <p:pic>
        <p:nvPicPr>
          <p:cNvPr id="6" name="Picture 5" descr="sample_0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2340601"/>
            <a:ext cx="5486400" cy="29997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03504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A1A1AA"/>
                </a:solidFill>
                <a:latin typeface="Calibri"/>
              </a:rPr>
              <a:t>24/24 spots, exact match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603504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A1A1AA"/>
                </a:solidFill>
                <a:latin typeface="Calibri"/>
              </a:rPr>
              <a:t>Missed several cars incl. a low-contrast gray car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6B8AFF"/>
                </a:solidFill>
                <a:latin typeface="Calibri"/>
              </a:rPr>
              <a:t>Hyperparameter Tuning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1A1AA"/>
                </a:solidFill>
                <a:latin typeface="Calibri"/>
              </a:rPr>
              <a:t>Two real, measured comparisons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6B8AFF"/>
                </a:solidFill>
                <a:latin typeface="Calibri"/>
              </a:rPr>
              <a:t>Grid resolution vs. collision rate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103120"/>
          <a:ext cx="53035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7840"/>
                <a:gridCol w="1767840"/>
                <a:gridCol w="1767840"/>
              </a:tblGrid>
              <a:tr h="411480">
                <a:tc>
                  <a:txBody>
                    <a:bodyPr/>
                    <a:lstStyle/>
                    <a:p>
                      <a:pPr>
                        <a:defRPr b="1" sz="1300"/>
                      </a:pPr>
                      <a:r>
                        <a:t>Grid</a:t>
                      </a:r>
                    </a:p>
                  </a:txBody>
                  <a:tcPr>
                    <a:solidFill>
                      <a:srgbClr val="3338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/>
                      </a:pPr>
                      <a:r>
                        <a:t>Dropped</a:t>
                      </a:r>
                    </a:p>
                  </a:txBody>
                  <a:tcPr>
                    <a:solidFill>
                      <a:srgbClr val="3338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/>
                      </a:pPr>
                      <a:r>
                        <a:t>Rate</a:t>
                      </a:r>
                    </a:p>
                  </a:txBody>
                  <a:tcPr>
                    <a:solidFill>
                      <a:srgbClr val="33384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8×8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111/4,422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2.51%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16×16 ✓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12/4,422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0.27%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32×32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3/4,422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0.07%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309360" y="16459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6B8AFF"/>
                </a:solidFill>
                <a:latin typeface="Calibri"/>
              </a:rPr>
              <a:t>Coordinate loss weight (15 epochs each)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309360" y="2103120"/>
          <a:ext cx="53035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7840"/>
                <a:gridCol w="1767840"/>
                <a:gridCol w="1767840"/>
              </a:tblGrid>
              <a:tr h="457200">
                <a:tc>
                  <a:txBody>
                    <a:bodyPr/>
                    <a:lstStyle/>
                    <a:p>
                      <a:pPr>
                        <a:defRPr b="1" sz="1300"/>
                      </a:pPr>
                      <a:r>
                        <a:t>lambda_coord</a:t>
                      </a:r>
                    </a:p>
                  </a:txBody>
                  <a:tcPr>
                    <a:solidFill>
                      <a:srgbClr val="3338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/>
                      </a:pPr>
                      <a:r>
                        <a:t>Val loss</a:t>
                      </a:r>
                    </a:p>
                  </a:txBody>
                  <a:tcPr>
                    <a:solidFill>
                      <a:srgbClr val="3338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/>
                      </a:pPr>
                      <a:r>
                        <a:t>mAP</a:t>
                      </a:r>
                    </a:p>
                  </a:txBody>
                  <a:tcPr>
                    <a:solidFill>
                      <a:srgbClr val="33384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5.0 ✓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3.91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96.72%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1.0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16.36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0.00%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114800"/>
            <a:ext cx="11064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1A1AA"/>
                </a:solidFill>
                <a:latin typeface="Calibri"/>
              </a:rPr>
              <a:t>lambda_coord=1.0 collapsed to 0% mAP within the short budget — a known YOLO pathology when coordinate loss is underweighted relative to the flood of no-object cells. Confirms the YOLOv1 default rather than assuming 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6B8AFF"/>
                </a:solidFill>
                <a:latin typeface="Calibri"/>
              </a:rPr>
              <a:t>Benchmarking vs. Baselines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1A1AA"/>
                </a:solidFill>
                <a:latin typeface="Calibri"/>
              </a:rPr>
              <a:t>Same validation spots, three methods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371600" y="2103120"/>
          <a:ext cx="94183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09160"/>
                <a:gridCol w="4709160"/>
              </a:tblGrid>
              <a:tr h="548640">
                <a:tc>
                  <a:txBody>
                    <a:bodyPr/>
                    <a:lstStyle/>
                    <a:p>
                      <a:pPr>
                        <a:defRPr b="1" sz="1600"/>
                      </a:pPr>
                      <a:r>
                        <a:t>Method</a:t>
                      </a:r>
                    </a:p>
                  </a:txBody>
                  <a:tcPr>
                    <a:solidFill>
                      <a:srgbClr val="3338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600"/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33384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Majority-class baseline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53.26%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Classic-CV heuristic (this project's original approach)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82.66%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Trained detector (given correct localization)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99.86%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371600" y="4572000"/>
            <a:ext cx="9418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1A1AA"/>
                </a:solidFill>
                <a:latin typeface="Calibri"/>
              </a:rPr>
              <a:t>The classic-CV heuristic was this project's own first approach to occupancy. It beats a naive prior but misses ~1 in 6 spots — exactly the gap a learned model should close.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6B8AFF"/>
                </a:solidFill>
                <a:latin typeface="Calibri"/>
              </a:rPr>
              <a:t>Secondary Pipeline: Calibrated Cameras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1A1AA"/>
                </a:solidFill>
                <a:latin typeface="Calibri"/>
              </a:rPr>
              <a:t>Occupancy classifier + geometric misparking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4F4F5"/>
                </a:solidFill>
              </a:defRPr>
            </a:pPr>
            <a:r>
              <a:t>•  For cameras with known spot boundaries: crop each spot → CNN classifies Empty/Occupied → IoU/overflow check flags cars parked across the boundary</a:t>
            </a:r>
          </a:p>
          <a:p>
            <a:pPr>
              <a:spcAft>
                <a:spcPts val="800"/>
              </a:spcAft>
              <a:defRPr sz="1700">
                <a:solidFill>
                  <a:srgbClr val="F4F4F5"/>
                </a:solidFill>
              </a:defRPr>
            </a:pPr>
            <a:r>
              <a:t>•  Trained on real PKLot data (1,242 photos, 70,684 labeled spaces) → 97.04% validation accuracy, consistent with published PKLot/CNRPark-EXT results</a:t>
            </a:r>
          </a:p>
          <a:p>
            <a:pPr>
              <a:spcAft>
                <a:spcPts val="800"/>
              </a:spcAft>
              <a:defRPr sz="1700">
                <a:solidFill>
                  <a:srgbClr val="F4F4F5"/>
                </a:solidFill>
              </a:defRPr>
            </a:pPr>
            <a:r>
              <a:t>•  Environment note: that checkpoint needs Keras-version reconciliation to reload in this environment; 97.04% is the genuine, previously-recorded result</a:t>
            </a:r>
          </a:p>
          <a:p>
            <a:pPr>
              <a:spcAft>
                <a:spcPts val="800"/>
              </a:spcAft>
              <a:defRPr sz="1700">
                <a:solidFill>
                  <a:srgbClr val="F4F4F5"/>
                </a:solidFill>
              </a:defRPr>
            </a:pPr>
            <a:r>
              <a:t>•  Adds a feature the general detector doesn't attempt: flagging improperly parked cars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6B8AFF"/>
                </a:solidFill>
                <a:latin typeface="Calibri"/>
              </a:rPr>
              <a:t>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1A1AA"/>
                </a:solidFill>
                <a:latin typeface="Calibri"/>
              </a:rPr>
              <a:t>Flask REST API + browser upload UI — no install needed</a:t>
            </a:r>
          </a:p>
        </p:txBody>
      </p:sp>
      <p:pic>
        <p:nvPicPr>
          <p:cNvPr id="5" name="Picture 4" descr="live_demo_detec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8874" y="1645920"/>
            <a:ext cx="6443771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6B8AFF"/>
                </a:solidFill>
                <a:latin typeface="Calibri"/>
              </a:rPr>
              <a:t>Discussion &amp; 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1A1AA"/>
                </a:solidFill>
                <a:latin typeface="Calibri"/>
              </a:rPr>
              <a:t>Honest accounting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4F4F5"/>
                </a:solidFill>
              </a:defRPr>
            </a:pPr>
            <a:r>
              <a:t>•  Worked: staged synthetic-first build let the whole pipeline be validated cheaply before real data</a:t>
            </a:r>
          </a:p>
          <a:p>
            <a:pPr>
              <a:spcAft>
                <a:spcPts val="800"/>
              </a:spcAft>
              <a:defRPr sz="1700">
                <a:solidFill>
                  <a:srgbClr val="F4F4F5"/>
                </a:solidFill>
              </a:defRPr>
            </a:pPr>
            <a:r>
              <a:t>•  Had to be revisited: the original classifier-only version didn't satisfy Object Detection — only caught by auditing against the rubric, requiring a genuine architecture change in Sprint 4</a:t>
            </a:r>
          </a:p>
          <a:p>
            <a:pPr>
              <a:spcAft>
                <a:spcPts val="800"/>
              </a:spcAft>
              <a:defRPr sz="1700">
                <a:solidFill>
                  <a:srgbClr val="F4F4F5"/>
                </a:solidFill>
              </a:defRPr>
            </a:pPr>
            <a:r>
              <a:t>•  Detector is validated on synthetic data only — real photos (shadows, lighting, dense packing) remain the main open validation gap; the classifier's real-PKLot result doesn't cover the detector</a:t>
            </a:r>
          </a:p>
          <a:p>
            <a:pPr>
              <a:spcAft>
                <a:spcPts val="800"/>
              </a:spcAft>
              <a:defRPr sz="1700">
                <a:solidFill>
                  <a:srgbClr val="F4F4F5"/>
                </a:solidFill>
              </a:defRPr>
            </a:pPr>
            <a:r>
              <a:t>•  Low-contrast cars (e.g. gray-on-gray) are the concentrated failure mode, in both the new detector and the original classic-CV heuristic — the clear next target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6B8AFF"/>
                </a:solidFill>
                <a:latin typeface="Calibri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6984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4F4F5"/>
                </a:solidFill>
                <a:latin typeface="Calibri"/>
              </a:rPr>
              <a:t>A from-scratch object detector for two classes (empty_spot / occupied_spot), 98.71% mAP@0.5, beating both a majority-class baseline (53.3%) and this project's own earlier classic-CV heuristic (82.7%). Served live through a REST API and browser demo, alongside a real-data-validated occupancy classifier for calibrated cameras. Main next step: validate the detector on real, non-synthetic photographs.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6B8AFF"/>
                </a:solidFill>
                <a:latin typeface="Calibri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1A1AA"/>
                </a:solidFill>
                <a:latin typeface="Calibri"/>
              </a:rPr>
              <a:t>[FILL IN before submission]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371600" y="2011680"/>
          <a:ext cx="94183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39440"/>
                <a:gridCol w="3139440"/>
                <a:gridCol w="3139440"/>
              </a:tblGrid>
              <a:tr h="533400">
                <a:tc>
                  <a:txBody>
                    <a:bodyPr/>
                    <a:lstStyle/>
                    <a:p>
                      <a:pPr>
                        <a:defRPr b="1" sz="1400"/>
                      </a:pPr>
                      <a:r>
                        <a:t>Name</a:t>
                      </a:r>
                    </a:p>
                  </a:txBody>
                  <a:tcPr>
                    <a:solidFill>
                      <a:srgbClr val="3338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/>
                      </a:pPr>
                      <a:r>
                        <a:t>Role</a:t>
                      </a:r>
                    </a:p>
                  </a:txBody>
                  <a:tcPr>
                    <a:solidFill>
                      <a:srgbClr val="3338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/>
                      </a:pPr>
                      <a:r>
                        <a:t>Contribution</a:t>
                      </a:r>
                    </a:p>
                  </a:txBody>
                  <a:tcPr>
                    <a:solidFill>
                      <a:srgbClr val="333842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[FILL IN — PM]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Project Manager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[FILL IN]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[FILL IN]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[FILL IN]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[FILL IN]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[FILL IN]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[FILL IN]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[FILL IN]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[FILL IN]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[FILL IN]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[FILL IN]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[FILL IN]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[FILL IN]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[FILL IN]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