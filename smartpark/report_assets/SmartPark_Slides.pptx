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4F4F5"/>
                </a:solidFill>
                <a:latin typeface="Calibri"/>
              </a:rPr>
              <a:t>SmartPark: Real-Time Parking Spot Object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1A1AA"/>
                </a:solidFill>
                <a:latin typeface="Calibri"/>
              </a:rPr>
              <a:t>AASD 4014 — Deep Learning II —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8AFF"/>
                </a:solidFill>
                <a:latin typeface="Calibri"/>
              </a:rPr>
              <a:t>Object Detection Track  ·  July 2026  ·  Group [FILL IN]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Drivers waste time and money searching for parking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4F4F5"/>
                </a:solidFill>
              </a:defRPr>
            </a:pPr>
            <a:r>
              <a:t>•  Camera-based occupancy detection can surface spot-level availability before drivers arrive.</a:t>
            </a:r>
          </a:p>
          <a:p>
            <a:pPr>
              <a:spcAft>
                <a:spcPts val="800"/>
              </a:spcAft>
              <a:defRPr sz="1900">
                <a:solidFill>
                  <a:srgbClr val="F4F4F5"/>
                </a:solidFill>
              </a:defRPr>
            </a:pPr>
            <a:r>
              <a:t>•  Prior work (PKLot / CNRPark-EXT) classifies pre-cropped, pre-calibrated spot images — it assumes spot locations are already known.</a:t>
            </a:r>
          </a:p>
          <a:p>
            <a:pPr>
              <a:spcAft>
                <a:spcPts val="800"/>
              </a:spcAft>
              <a:defRPr sz="1900">
                <a:solidFill>
                  <a:srgbClr val="F4F4F5"/>
                </a:solidFill>
              </a:defRPr>
            </a:pPr>
            <a:r>
              <a:t>•  This project targets the assignment's Object Detection requirement directly: find AND classify spots (empty_spot / occupied_spot) in a full, uncalibrated photo — no manual calibration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Plan of Attack &amp; Agile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5 real development stages, reconstructed from project file history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Key deliverables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(Jul 17)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Pipeline scaffolding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Synthetic data, CNN classifier, geometry check, first demo UI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(Jul 18)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Real-data integration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PKLot conversion, classifier retrained on real data (97.04%)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(Jul 19)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Initial report/slides, architecture diagram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 (Jul 20)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Env fixes + OD pivot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Rebuilt as a real 2-class object detector after rubric audit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(Jul 21)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Real-data closure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Fine-tuned detector on real boxes (47.71% mAP); classifier 98.69%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4206240"/>
            <a:ext cx="35661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Full-scene detection annotations, two object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300 synthetic full-lot images, randomized grid layout (rows/cols/spot size/margin + per-spot jitter)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4,422 labeled spot instances: 2,027 empty_spot / 2,395 occupied_spot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occupied_spot boxes track the actual car footprint (shifts when misparked) — real localization signal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255 train / 45 val images (85/15 split)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Both classes clear the 200-images-per-class minimum comfortably</a:t>
            </a:r>
          </a:p>
        </p:txBody>
      </p:sp>
      <p:pic>
        <p:nvPicPr>
          <p:cNvPr id="6" name="Picture 5" descr="sampl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339" y="1737360"/>
            <a:ext cx="424044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Model: Single-Shot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Trained from scratch — YOLOv1-style, one box per grid cell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5669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256×256×3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Conv2D(16)+Pool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128×128×16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Conv2D(32)+Pool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64×64×32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Conv2D(64)+Pool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32×32×64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Conv2D(128)+Pool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16×16×128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Conv2D(128)×2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16×16×128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Head (1×1 conv)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16×16×7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4F5"/>
                </a:solidFill>
              </a:defRPr>
            </a:pPr>
            <a:r>
              <a:t>•  393,511 parameters</a:t>
            </a:r>
          </a:p>
          <a:p>
            <a:pPr>
              <a:spcAft>
                <a:spcPts val="800"/>
              </a:spcAft>
              <a:defRPr sz="1600">
                <a:solidFill>
                  <a:srgbClr val="F4F4F5"/>
                </a:solidFill>
              </a:defRPr>
            </a:pPr>
            <a:r>
              <a:t>•  Per cell: objectness, box (tx,ty,tw,th), 2-class softmax</a:t>
            </a:r>
          </a:p>
          <a:p>
            <a:pPr>
              <a:spcAft>
                <a:spcPts val="800"/>
              </a:spcAft>
              <a:defRPr sz="1600">
                <a:solidFill>
                  <a:srgbClr val="F4F4F5"/>
                </a:solidFill>
              </a:defRPr>
            </a:pPr>
            <a:r>
              <a:t>•  Loss: YOLOv1-style — coordinate (×5), objectness, no-object (×0.5), 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F4F4F5"/>
                </a:solidFill>
              </a:defRPr>
            </a:pPr>
            <a:r>
              <a:t>•  Post-processing: per-class NMS (cv2.dnn.NMSBoxes)</a:t>
            </a:r>
          </a:p>
          <a:p>
            <a:pPr>
              <a:spcAft>
                <a:spcPts val="800"/>
              </a:spcAft>
              <a:defRPr sz="1600">
                <a:solidFill>
                  <a:srgbClr val="F4F4F5"/>
                </a:solidFill>
              </a:defRPr>
            </a:pPr>
            <a:r>
              <a:t>•  Secondary pipeline: CNN classifier (1.14M params) + IoU geometry check for calibrated cameras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40 epochs, Adam + ReduceLROnPlateau, early stopping patience 6 (not triggered)</a:t>
            </a:r>
          </a:p>
        </p:txBody>
      </p:sp>
      <p:pic>
        <p:nvPicPr>
          <p:cNvPr id="5" name="Picture 4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45920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Held-out validation: 45 images, 721 spot instances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GT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AP@0.5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empty_spot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337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98.73%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95.5%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occupied_spot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98.68%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96.1%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97.9%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mAP@0.5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98.71%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093976"/>
            <a:ext cx="448056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Where the Errors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Localization misses, not class confusion</a:t>
            </a:r>
          </a:p>
        </p:txBody>
      </p:sp>
      <p:pic>
        <p:nvPicPr>
          <p:cNvPr id="5" name="Picture 4" descr="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4572000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1645920"/>
            <a:ext cx="51435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Qualitative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A clean match, and an honest failure case</a:t>
            </a:r>
          </a:p>
        </p:txBody>
      </p:sp>
      <p:pic>
        <p:nvPicPr>
          <p:cNvPr id="5" name="Picture 4" descr="sampl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91333"/>
            <a:ext cx="5486400" cy="3698293"/>
          </a:xfrm>
          <a:prstGeom prst="rect">
            <a:avLst/>
          </a:prstGeom>
        </p:spPr>
      </p:pic>
      <p:pic>
        <p:nvPicPr>
          <p:cNvPr id="6" name="Picture 5" descr="sample_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40601"/>
            <a:ext cx="5486400" cy="2999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  <a:latin typeface="Calibri"/>
              </a:rPr>
              <a:t>24/24 spots, exact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  <a:latin typeface="Calibri"/>
              </a:rPr>
              <a:t>Missed several cars incl. a low-contrast gray car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Two real, measured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AFF"/>
                </a:solidFill>
                <a:latin typeface="Calibri"/>
              </a:rPr>
              <a:t>Grid resolution vs. collision rate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Dropped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8×8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111/4,422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2.51%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16×16 ✓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12/4,422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0.27%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32×32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3/4,422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0.07%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B8AFF"/>
                </a:solidFill>
                <a:latin typeface="Calibri"/>
              </a:rPr>
              <a:t>Coordinate loss weight (15 epochs each)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10312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lambda_coord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Val loss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5.0 ✓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3.91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96.72%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16.36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148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lambda_coord=1.0 collapsed to 0% mAP within the short budget — a known YOLO pathology when coordinate loss is underweighted relative to the flood of no-object cells. Confirms the YOLOv1 default rather than assuming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Benchmarking vs.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Same validation spots, three methods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03120"/>
          <a:ext cx="9418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Majority-class baseline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53.26%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Classic-CV heuristic (this project's original approach)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82.66%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Trained detector (given correct localization)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99.86%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572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The classic-CV heuristic was this project's own first approach to occupancy. It beats a naive prior but misses ~1 in 6 spots — exactly the gap a learned model should close.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Secondary Pipeline: Calibrated Cameras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Occupancy classifier + geometric misparking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For cameras with known spot boundaries: crop each spot → CNN classifies Empty/Occupied → IoU/overflow check flags cars parked across the boundary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Trained on real PKLot data (1,242 photos, 70,684 labeled spaces) → 98.69% validation accuracy, consistent with (slightly ahead of) published PKLot/CNRPark-EXT results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Same real PKLot export also used to fine-tune the object detector (next slide)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Adds a feature the general detector doesn't attempt: flagging improperly parked cars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Flask REST API + browser upload UI — no install needed</a:t>
            </a:r>
          </a:p>
        </p:txBody>
      </p:sp>
      <p:pic>
        <p:nvPicPr>
          <p:cNvPr id="5" name="Picture 4" descr="live_demo_det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874" y="1645920"/>
            <a:ext cx="644377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Zero-Shot Cross-Domain Test (CNRPark-EXT)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A totally unfamiliar camera angle and marking style</a:t>
            </a:r>
          </a:p>
        </p:txBody>
      </p:sp>
      <p:pic>
        <p:nvPicPr>
          <p:cNvPr id="5" name="Picture 4" descr="exampl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68780"/>
            <a:ext cx="603504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F4F5"/>
                </a:solidFill>
              </a:defRPr>
            </a:pPr>
            <a:r>
              <a:t>•  115 real photos tested, no painted lines, steep real camera angle</a:t>
            </a:r>
          </a:p>
          <a:p>
            <a:pPr>
              <a:spcAft>
                <a:spcPts val="800"/>
              </a:spcAft>
              <a:defRPr sz="1300">
                <a:solidFill>
                  <a:srgbClr val="F4F4F5"/>
                </a:solidFill>
              </a:defRPr>
            </a:pPr>
            <a:r>
              <a:t>•  Boxes loosely cluster near real cars — some transferable signal</a:t>
            </a:r>
          </a:p>
          <a:p>
            <a:pPr>
              <a:spcAft>
                <a:spcPts val="800"/>
              </a:spcAft>
              <a:defRPr sz="1300">
                <a:solidFill>
                  <a:srgbClr val="F4F4F5"/>
                </a:solidFill>
              </a:defRPr>
            </a:pPr>
            <a:r>
              <a:t>•  Misses most vehicles; box shapes imprecise</a:t>
            </a:r>
          </a:p>
          <a:p>
            <a:pPr>
              <a:spcAft>
                <a:spcPts val="800"/>
              </a:spcAft>
              <a:defRPr sz="1300">
                <a:solidFill>
                  <a:srgbClr val="F4F4F5"/>
                </a:solidFill>
              </a:defRPr>
            </a:pPr>
            <a:r>
              <a:t>•  empty_spot almost never fires — no painted bays in this domain</a:t>
            </a:r>
          </a:p>
          <a:p>
            <a:pPr>
              <a:spcAft>
                <a:spcPts val="800"/>
              </a:spcAft>
              <a:defRPr sz="1300">
                <a:solidFill>
                  <a:srgbClr val="F4F4F5"/>
                </a:solidFill>
              </a:defRPr>
            </a:pPr>
            <a:r>
              <a:t>•  Matches this project's earlier classifier result: 40% on the same cross-domain test</a:t>
            </a:r>
          </a:p>
          <a:p>
            <a:pPr>
              <a:spcAft>
                <a:spcPts val="800"/>
              </a:spcAft>
              <a:defRPr sz="1300">
                <a:solidFill>
                  <a:srgbClr val="F4F4F5"/>
                </a:solidFill>
              </a:defRPr>
            </a:pPr>
            <a:r>
              <a:t>•  Contrast with next slide: same-domain fine-tuning tells a very different story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Real-Data Fine-Tuning (PKLot)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Same-domain real photos — a very different result from zero-shot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GT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AP@0.5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empty_spot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5,345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46.84%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77.6%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53.2%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occupied_spot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4,975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48.59%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72.6%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57.1%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mAP@0.5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47.71%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570" y="1463040"/>
            <a:ext cx="432054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661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Calibri"/>
              </a:rPr>
              <a:t>47.71% mAP on real, dense PKLot photos — a genuine result, far below synthetic (98.71%) but a huge step up from zero-shot (previous slide). Classification given correct localization: 94.5% (vs. 99.86% synthetic) — almost as reliable. The gap is recall: real lots average ~57 spots/image vs. ~15 synthetic, so the 16×16 grid drops 28.2% of real boxes to cell collisions. That alone caps achievable recall near ~72% — the concrete next fix is a finer grid or anchor-based head, not more real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Real-Data Fine-Tuning — Qualitative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A dense, cluttered real PKLot photo</a:t>
            </a:r>
          </a:p>
        </p:txBody>
      </p:sp>
      <p:pic>
        <p:nvPicPr>
          <p:cNvPr id="5" name="Picture 4" descr="sampl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20" y="1554480"/>
            <a:ext cx="86156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Discussion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Honest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Worked: staged synthetic-first build let the whole pipeline be validated cheaply before real data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Had to be revisited: the original classifier-only version didn't satisfy Object Detection — only caught by auditing against the rubric, requiring a genuine architecture change in Sprint 4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Zero-shot to an unfamiliar camera (CNRPark-EXT) mostly fails; fine-tuning on same-domain real data (PKLot) reaches 47.71% mAP — real data helps a lot, but the model needs to actually see it</a:t>
            </a:r>
          </a:p>
          <a:p>
            <a:pPr>
              <a:spcAft>
                <a:spcPts val="800"/>
              </a:spcAft>
              <a:defRPr sz="1700">
                <a:solidFill>
                  <a:srgbClr val="F4F4F5"/>
                </a:solidFill>
              </a:defRPr>
            </a:pPr>
            <a:r>
              <a:t>•  The real-data bottleneck is recall from grid-cell collisions on dense lots, not classification — a specific, measured next fix, not a vague call for "more real data"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4F4F5"/>
                </a:solidFill>
                <a:latin typeface="Calibri"/>
              </a:rPr>
              <a:t>A from-scratch object detector for two classes (empty_spot / occupied_spot): 98.71% mAP@0.5 on synthetic data, and 47.71% mAP@0.5 after fine-tuning on real PKLot photos — beating both a majority-class baseline (53.3%) and this project's own earlier classic-CV heuristic (82.7%). Classification stays reliable on real data (94.5%, vs. 99.86% synthetic); the real-data gap is concentrated in localization recall on dense lots, with a specific, measured cause (grid-cell collisions) and a specific next fix (finer grid / anchor-based head). Served live through a REST API and browser demo, alongside a real-data-validated occupancy classifier (98.69%) for calibrated cameras.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B8AFF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Calibri"/>
              </a:rPr>
              <a:t>[FILL IN before submission]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01168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3338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 — PM]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Project Manager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[FILL IN]</a:t>
                      </a:r>
                    </a:p>
                  </a:txBody>
                  <a:tcPr>
                    <a:solidFill>
                      <a:srgbClr val="2428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